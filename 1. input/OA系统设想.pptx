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540F0-8915-621B-BBC9-93C153EFE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6385CE-DB46-7D9D-C797-AF2AEDFF7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818F55-9588-95AE-9E3D-C7384E231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366EB-B750-4DBE-D4FA-E7F19AD88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1338E0-A7F7-4B07-4065-C1536B2A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60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BF480-6CB1-C8C0-C0B7-0C331006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A56871-D9F8-622E-9E18-E747DD701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28085-39C7-6D18-9334-2910F3E3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2ABC71-7B0A-3D84-0E55-77F2C06F8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A7463-7FFE-A5D3-1D61-13CC1FB7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33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AAA4C-9DAD-D5FF-75FC-17521223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D038C-8A35-173E-E2C0-4A572FF3D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29A318-7941-06E9-3D9E-8D66CB93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7CC951-2941-3A5A-6E37-C166C412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E78B6-C7C2-E1DA-9924-95230137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730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6BEA9-9CAE-08F7-B040-135969E2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D2AEB-5CB9-800C-89A4-7C5D23B08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709813-0476-7088-1514-B3C3F795E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99277C-9810-2C67-72A5-7B508AC6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E33908-A76D-D8FB-F188-08AFB61C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76EA9-87E8-33DD-ED9B-B11A13EC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60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BFA3C-79C2-DA26-EA73-2EA87D0B9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2BA923-740C-7197-3C17-99D4D0E52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66B12D-E667-C6A4-1C70-578E8A899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874D8B-B9A4-0EC9-0A8A-181DFCD47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E17F63-5C1A-BF0A-94C1-8DB8FAD30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CD3478-9B67-772B-76B3-D1CB01BC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BCEF361-FFAD-F0F5-BC0F-EEADC5EE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6AFE03-2B85-5B9B-D4F3-0D4CCE09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34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A09F82-1831-E2DC-8BAA-A043F4F4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717770-43CC-5344-0A92-DA406CA7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F6C9B0-8FB0-491B-4198-422019DA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AC3C41-751E-77FA-742F-AF1C0741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72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050F82-CE9B-C4D9-D749-75D37C73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6F355C-037F-8A2E-B50D-79EC2027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98D3AE-4D96-D523-521A-B7B63016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82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9E0DA-C771-48A2-D20C-7F8F4E4B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947FD1-DF9C-C597-54CB-5033540E4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403FA0-EF5E-3922-9B5C-38DB4549B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B57A6A-3568-0201-F3BB-CD026700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2E5F19-E323-DD3F-915A-98C9F84A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C52437-ED4C-8577-6B31-14D53F52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21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EE1B4-47F7-97B5-4353-615205D1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F8A114-4516-1831-B240-FED840DB84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48C5C3-94E6-8ABA-20FA-AC68D5320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E502F4-6627-E721-E582-72BE2D6E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82F9DC-88A2-8184-0D00-D6F3C918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3CD89-145C-FBA3-0FDB-ACDC970E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21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9A01B-0E45-C108-5B10-A7C670B82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5D1A8B-A606-803E-F145-0196A5E1F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BF820-7417-4888-63BD-02EA86D8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1BEB2-D4ED-5588-26FE-A459C871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7B6A2-5C35-5731-89EE-0C926FD14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8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437DF0-121E-9A6D-D83D-3D60FC63C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C1E30C-3003-A42C-2657-7EA6CA948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366EB0-656A-BD8B-1297-2269A0512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FFF74D-FA5D-AE70-B52D-F2BFA5DC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D08502-DE05-87A1-3201-A9AF64EF7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14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E82C65-FC00-76C9-9AF8-97200D1D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7596C4-0A45-B8DF-CE1D-5496B9837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AA4FFC-14CB-1C86-8614-ECA0A1C19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7E29D-F8C3-4579-9977-C2F96E0263D2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77266-90DF-5EEE-C5D9-C026100D8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935349-6B4D-10D0-428A-A51496991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E4DA7-A774-4366-BBC0-C9CD8964B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66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E63DA-825F-D1D9-469E-798EAF55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49231F-761D-D456-FA48-0D6CC1FDA1AA}"/>
              </a:ext>
            </a:extLst>
          </p:cNvPr>
          <p:cNvSpPr txBox="1"/>
          <p:nvPr/>
        </p:nvSpPr>
        <p:spPr>
          <a:xfrm>
            <a:off x="5124450" y="396359"/>
            <a:ext cx="178766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500" dirty="0">
                <a:latin typeface="黑体" panose="02010609060101010101" pitchFamily="49" charset="-122"/>
                <a:ea typeface="黑体" panose="02010609060101010101" pitchFamily="49" charset="-122"/>
              </a:rPr>
              <a:t>OA</a:t>
            </a:r>
            <a:r>
              <a:rPr lang="zh-CN" altLang="en-US" sz="2500" dirty="0">
                <a:latin typeface="黑体" panose="02010609060101010101" pitchFamily="49" charset="-122"/>
                <a:ea typeface="黑体" panose="02010609060101010101" pitchFamily="49" charset="-122"/>
              </a:rPr>
              <a:t>系统设想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AFCF1A-7494-CC24-B849-2AE34A480E1F}"/>
              </a:ext>
            </a:extLst>
          </p:cNvPr>
          <p:cNvSpPr txBox="1"/>
          <p:nvPr/>
        </p:nvSpPr>
        <p:spPr>
          <a:xfrm>
            <a:off x="476250" y="977384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项目信息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FE3D7D-F65D-5BF9-EC2C-F357096888BD}"/>
              </a:ext>
            </a:extLst>
          </p:cNvPr>
          <p:cNvSpPr txBox="1"/>
          <p:nvPr/>
        </p:nvSpPr>
        <p:spPr>
          <a:xfrm>
            <a:off x="2038350" y="1015856"/>
            <a:ext cx="105028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5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项目名称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31D130-3F71-B4FA-6CE7-652AA888EA1B}"/>
              </a:ext>
            </a:extLst>
          </p:cNvPr>
          <p:cNvSpPr txBox="1"/>
          <p:nvPr/>
        </p:nvSpPr>
        <p:spPr>
          <a:xfrm>
            <a:off x="3390900" y="1015856"/>
            <a:ext cx="105028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5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承接日期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BEEBC0-1FA6-1CA2-E84E-810DAA9906C9}"/>
              </a:ext>
            </a:extLst>
          </p:cNvPr>
          <p:cNvSpPr txBox="1"/>
          <p:nvPr/>
        </p:nvSpPr>
        <p:spPr>
          <a:xfrm>
            <a:off x="6315075" y="1015855"/>
            <a:ext cx="105028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5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出图单位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8B65C5-6C82-614E-F261-7BEA596AF60E}"/>
              </a:ext>
            </a:extLst>
          </p:cNvPr>
          <p:cNvSpPr txBox="1"/>
          <p:nvPr/>
        </p:nvSpPr>
        <p:spPr>
          <a:xfrm>
            <a:off x="7810500" y="1015855"/>
            <a:ext cx="105028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5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项目编号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B6BE57-C473-53E5-6548-D7C941BE7A88}"/>
              </a:ext>
            </a:extLst>
          </p:cNvPr>
          <p:cNvSpPr txBox="1"/>
          <p:nvPr/>
        </p:nvSpPr>
        <p:spPr>
          <a:xfrm>
            <a:off x="4743450" y="1015856"/>
            <a:ext cx="105028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5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项目概况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3B9F41-A92E-8F89-1253-7B9D29885316}"/>
              </a:ext>
            </a:extLst>
          </p:cNvPr>
          <p:cNvSpPr txBox="1"/>
          <p:nvPr/>
        </p:nvSpPr>
        <p:spPr>
          <a:xfrm>
            <a:off x="1962150" y="1377493"/>
            <a:ext cx="954107" cy="553998"/>
          </a:xfrm>
          <a:prstGeom prst="rect">
            <a:avLst/>
          </a:prstGeom>
          <a:solidFill>
            <a:srgbClr val="FFC000"/>
          </a:solidFill>
          <a:ln w="127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变更、</a:t>
            </a:r>
            <a:endParaRPr lang="en-US" altLang="zh-CN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变更日期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616818-746D-B9FC-57E2-AB23D387BFB7}"/>
              </a:ext>
            </a:extLst>
          </p:cNvPr>
          <p:cNvSpPr txBox="1"/>
          <p:nvPr/>
        </p:nvSpPr>
        <p:spPr>
          <a:xfrm>
            <a:off x="476251" y="1968310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经营信息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78160C-2DA8-9F4B-555A-E8C36BD3E533}"/>
              </a:ext>
            </a:extLst>
          </p:cNvPr>
          <p:cNvSpPr txBox="1"/>
          <p:nvPr/>
        </p:nvSpPr>
        <p:spPr>
          <a:xfrm>
            <a:off x="1828801" y="1968310"/>
            <a:ext cx="95410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甲方名称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0E9CC3-5E0A-8379-2582-FADA2A1D3705}"/>
              </a:ext>
            </a:extLst>
          </p:cNvPr>
          <p:cNvSpPr txBox="1"/>
          <p:nvPr/>
        </p:nvSpPr>
        <p:spPr>
          <a:xfrm>
            <a:off x="3305176" y="1968310"/>
            <a:ext cx="13388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联系人及电话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B47C15-0FA0-A407-20FB-67869AFEDB9F}"/>
              </a:ext>
            </a:extLst>
          </p:cNvPr>
          <p:cNvSpPr txBox="1"/>
          <p:nvPr/>
        </p:nvSpPr>
        <p:spPr>
          <a:xfrm>
            <a:off x="6591301" y="1968309"/>
            <a:ext cx="95410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经营人员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3E584A-29FC-F469-F85B-1FE7A5465FEA}"/>
              </a:ext>
            </a:extLst>
          </p:cNvPr>
          <p:cNvSpPr txBox="1"/>
          <p:nvPr/>
        </p:nvSpPr>
        <p:spPr>
          <a:xfrm>
            <a:off x="5029201" y="1968309"/>
            <a:ext cx="114646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经营负责人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43D786-BF18-9A81-1C15-00BFD34CB34A}"/>
              </a:ext>
            </a:extLst>
          </p:cNvPr>
          <p:cNvSpPr txBox="1"/>
          <p:nvPr/>
        </p:nvSpPr>
        <p:spPr>
          <a:xfrm>
            <a:off x="476250" y="2482180"/>
            <a:ext cx="28289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项目概算（估算）信息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EAAFD6-DEB0-629C-CF77-C799BF336C4A}"/>
              </a:ext>
            </a:extLst>
          </p:cNvPr>
          <p:cNvSpPr txBox="1"/>
          <p:nvPr/>
        </p:nvSpPr>
        <p:spPr>
          <a:xfrm>
            <a:off x="423267" y="3484993"/>
            <a:ext cx="24929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项目批复、审计信息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35D8FF4-7309-DC70-B59E-131C2D926798}"/>
              </a:ext>
            </a:extLst>
          </p:cNvPr>
          <p:cNvSpPr txBox="1"/>
          <p:nvPr/>
        </p:nvSpPr>
        <p:spPr>
          <a:xfrm>
            <a:off x="423267" y="3962049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合同信息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D7B1AFA-D2A8-6518-038B-14D17F249E44}"/>
              </a:ext>
            </a:extLst>
          </p:cNvPr>
          <p:cNvSpPr txBox="1"/>
          <p:nvPr/>
        </p:nvSpPr>
        <p:spPr>
          <a:xfrm>
            <a:off x="1837731" y="4000523"/>
            <a:ext cx="1047594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合同文本、补充协议文本（上传），合同、补充协议签订时间，合同费率</a:t>
            </a:r>
            <a:r>
              <a:rPr lang="en-US" altLang="zh-CN" sz="1500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、合同金额（设计费、勘察费、咨询费（元））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6AA0DBE-3A12-B9FC-3C64-2E38F00B3F74}"/>
              </a:ext>
            </a:extLst>
          </p:cNvPr>
          <p:cNvSpPr txBox="1"/>
          <p:nvPr/>
        </p:nvSpPr>
        <p:spPr>
          <a:xfrm>
            <a:off x="3090743" y="3552585"/>
            <a:ext cx="73019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批复、审计报告文本（上传），批复、审计金额（设计费、勘察费、咨询费（元））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79AE17-5DFC-B76B-C6F4-2BD5AA6C1531}"/>
              </a:ext>
            </a:extLst>
          </p:cNvPr>
          <p:cNvSpPr txBox="1"/>
          <p:nvPr/>
        </p:nvSpPr>
        <p:spPr>
          <a:xfrm>
            <a:off x="2175390" y="4493033"/>
            <a:ext cx="1018740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应收金额（设计费、勘察费、咨询费（元）），开票时间，开票金额，支付时间，支付金额，可添加次数。未收金额。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11E8D5-66AE-5723-DFDA-B0C1CCB19745}"/>
              </a:ext>
            </a:extLst>
          </p:cNvPr>
          <p:cNvSpPr txBox="1"/>
          <p:nvPr/>
        </p:nvSpPr>
        <p:spPr>
          <a:xfrm>
            <a:off x="423267" y="4439105"/>
            <a:ext cx="17235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甲方支付信息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15B23D-FBCA-166E-D344-5EA8BFA895F7}"/>
              </a:ext>
            </a:extLst>
          </p:cNvPr>
          <p:cNvSpPr txBox="1"/>
          <p:nvPr/>
        </p:nvSpPr>
        <p:spPr>
          <a:xfrm>
            <a:off x="423266" y="4951779"/>
            <a:ext cx="17235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公司收入信息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72F189-E849-2BF1-6CD1-90E379CFD950}"/>
              </a:ext>
            </a:extLst>
          </p:cNvPr>
          <p:cNvSpPr txBox="1"/>
          <p:nvPr/>
        </p:nvSpPr>
        <p:spPr>
          <a:xfrm>
            <a:off x="2146815" y="4985543"/>
            <a:ext cx="1037976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管理费比例，应收金额（设计费、勘察费、咨询费（元）），开票时间，开票金额，支付时间，支付金额，可添加次数。</a:t>
            </a:r>
            <a:endParaRPr lang="en-US" altLang="zh-CN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未收金额。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8146B4-0E6C-1479-1773-42B676F7662A}"/>
              </a:ext>
            </a:extLst>
          </p:cNvPr>
          <p:cNvSpPr txBox="1"/>
          <p:nvPr/>
        </p:nvSpPr>
        <p:spPr>
          <a:xfrm>
            <a:off x="3174207" y="2528908"/>
            <a:ext cx="40318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估算金额（设计费、勘察费、咨询费（元））</a:t>
            </a:r>
            <a:endParaRPr lang="zh-CN" altLang="en-US" sz="15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9E7F3C-FFD1-4672-04D8-93E827742B52}"/>
              </a:ext>
            </a:extLst>
          </p:cNvPr>
          <p:cNvSpPr txBox="1"/>
          <p:nvPr/>
        </p:nvSpPr>
        <p:spPr>
          <a:xfrm>
            <a:off x="423267" y="2994854"/>
            <a:ext cx="19800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项目招投标信息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592693-8487-00FB-3739-F7E8647F5DED}"/>
              </a:ext>
            </a:extLst>
          </p:cNvPr>
          <p:cNvSpPr txBox="1"/>
          <p:nvPr/>
        </p:nvSpPr>
        <p:spPr>
          <a:xfrm>
            <a:off x="2654550" y="3021418"/>
            <a:ext cx="845616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招标文本、投标文本（上传），中标文本（上传），专家费支付（现金、金额，转账人员、金额）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CDEB42-9DB1-D191-3800-E1FA15DECE70}"/>
              </a:ext>
            </a:extLst>
          </p:cNvPr>
          <p:cNvSpPr txBox="1"/>
          <p:nvPr/>
        </p:nvSpPr>
        <p:spPr>
          <a:xfrm>
            <a:off x="384949" y="5521234"/>
            <a:ext cx="30059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公司对外委托及支付信息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5ACA675-4EFD-65CF-7644-232F207FA695}"/>
              </a:ext>
            </a:extLst>
          </p:cNvPr>
          <p:cNvSpPr txBox="1"/>
          <p:nvPr/>
        </p:nvSpPr>
        <p:spPr>
          <a:xfrm>
            <a:off x="3506148" y="5562713"/>
            <a:ext cx="61478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单位（个人），合同（上传），发票（上传），支付金额，支付时间，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44AABE7-6BC9-EAE9-78B4-C4877CAFA189}"/>
              </a:ext>
            </a:extLst>
          </p:cNvPr>
          <p:cNvSpPr txBox="1"/>
          <p:nvPr/>
        </p:nvSpPr>
        <p:spPr>
          <a:xfrm>
            <a:off x="384949" y="6018455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奖金信息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21F6C0A-1574-4975-D413-0521BE76F2D5}"/>
              </a:ext>
            </a:extLst>
          </p:cNvPr>
          <p:cNvSpPr txBox="1"/>
          <p:nvPr/>
        </p:nvSpPr>
        <p:spPr>
          <a:xfrm>
            <a:off x="1859350" y="6087852"/>
            <a:ext cx="460895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500" dirty="0">
                <a:latin typeface="黑体" panose="02010609060101010101" pitchFamily="49" charset="-122"/>
                <a:ea typeface="黑体" panose="02010609060101010101" pitchFamily="49" charset="-122"/>
              </a:rPr>
              <a:t>经营奖金（人员、金额），生产奖金（人员、金额）</a:t>
            </a:r>
          </a:p>
        </p:txBody>
      </p:sp>
    </p:spTree>
    <p:extLst>
      <p:ext uri="{BB962C8B-B14F-4D97-AF65-F5344CB8AC3E}">
        <p14:creationId xmlns:p14="http://schemas.microsoft.com/office/powerpoint/2010/main" val="363193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DB121-40BD-9421-5431-B5EAAD40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D384046-FD0E-5628-963F-E9392507E7B4}"/>
              </a:ext>
            </a:extLst>
          </p:cNvPr>
          <p:cNvSpPr txBox="1"/>
          <p:nvPr/>
        </p:nvSpPr>
        <p:spPr>
          <a:xfrm>
            <a:off x="5124450" y="396359"/>
            <a:ext cx="274947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500" dirty="0">
                <a:latin typeface="黑体" panose="02010609060101010101" pitchFamily="49" charset="-122"/>
                <a:ea typeface="黑体" panose="02010609060101010101" pitchFamily="49" charset="-122"/>
              </a:rPr>
              <a:t>项目管理系统设想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84CC7C-2FD6-0FE7-582B-13E09A725489}"/>
              </a:ext>
            </a:extLst>
          </p:cNvPr>
          <p:cNvSpPr txBox="1"/>
          <p:nvPr/>
        </p:nvSpPr>
        <p:spPr>
          <a:xfrm>
            <a:off x="476250" y="977384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生产信息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C942ED-678C-2372-ACBF-D93F9DAF6759}"/>
              </a:ext>
            </a:extLst>
          </p:cNvPr>
          <p:cNvSpPr txBox="1"/>
          <p:nvPr/>
        </p:nvSpPr>
        <p:spPr>
          <a:xfrm>
            <a:off x="1669762" y="1054237"/>
            <a:ext cx="102790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/>
              <a:t>人员配置：项目负责人，专业</a:t>
            </a:r>
            <a:r>
              <a:rPr lang="en-US" altLang="zh-CN" sz="1500" dirty="0"/>
              <a:t>1</a:t>
            </a:r>
            <a:r>
              <a:rPr lang="zh-CN" altLang="en-US" sz="1500" dirty="0"/>
              <a:t>（设计人，参与人，复核，），专业</a:t>
            </a:r>
            <a:r>
              <a:rPr lang="en-US" altLang="zh-CN" sz="1500" dirty="0"/>
              <a:t>2</a:t>
            </a:r>
            <a:r>
              <a:rPr lang="zh-CN" altLang="en-US" sz="1500" dirty="0"/>
              <a:t>（设计人，参与人，复核，），专业</a:t>
            </a:r>
            <a:r>
              <a:rPr lang="en-US" altLang="zh-CN" sz="1500" dirty="0"/>
              <a:t>3</a:t>
            </a:r>
            <a:r>
              <a:rPr lang="zh-CN" altLang="en-US" sz="1500" dirty="0"/>
              <a:t>（设计人，参与人，复核，），专业</a:t>
            </a:r>
            <a:r>
              <a:rPr lang="en-US" altLang="zh-CN" sz="1500" dirty="0"/>
              <a:t>4</a:t>
            </a:r>
            <a:r>
              <a:rPr lang="zh-CN" altLang="en-US" sz="1500" dirty="0"/>
              <a:t>（设计人，参与人，复核，），专业</a:t>
            </a:r>
            <a:r>
              <a:rPr lang="en-US" altLang="zh-CN" sz="1500" dirty="0"/>
              <a:t>5</a:t>
            </a:r>
            <a:r>
              <a:rPr lang="zh-CN" altLang="en-US" sz="1500" dirty="0"/>
              <a:t>（设计人，参与人，复核，），专业</a:t>
            </a:r>
            <a:r>
              <a:rPr lang="en-US" altLang="zh-CN" sz="1500" dirty="0"/>
              <a:t>6</a:t>
            </a:r>
            <a:r>
              <a:rPr lang="zh-CN" altLang="en-US" sz="1500" dirty="0"/>
              <a:t>（设计人，参与人，复核，），专业</a:t>
            </a:r>
            <a:r>
              <a:rPr lang="en-US" altLang="zh-CN" sz="1500" dirty="0"/>
              <a:t>7</a:t>
            </a:r>
            <a:r>
              <a:rPr lang="zh-CN" altLang="en-US" sz="1500" dirty="0"/>
              <a:t>（设计人，参与人，复核，），专业</a:t>
            </a:r>
            <a:r>
              <a:rPr lang="en-US" altLang="zh-CN" sz="1500" dirty="0"/>
              <a:t>8</a:t>
            </a:r>
            <a:r>
              <a:rPr lang="zh-CN" altLang="en-US" sz="1500" dirty="0"/>
              <a:t>（设计人，参与人，复核，），审核，审定。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9A35184-862C-8AF8-9B80-E05BAB2A2260}"/>
              </a:ext>
            </a:extLst>
          </p:cNvPr>
          <p:cNvSpPr txBox="1"/>
          <p:nvPr/>
        </p:nvSpPr>
        <p:spPr>
          <a:xfrm>
            <a:off x="1669762" y="1915920"/>
            <a:ext cx="102790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/>
              <a:t>生产支出：用车，时间，公里数，费用（每公里</a:t>
            </a:r>
            <a:r>
              <a:rPr lang="en-US" altLang="zh-CN" sz="1500" dirty="0"/>
              <a:t>2</a:t>
            </a:r>
            <a:r>
              <a:rPr lang="zh-CN" altLang="en-US" sz="1500" dirty="0"/>
              <a:t>元）；住宿（凭证上传），人员，费用；交通（凭证上传），人员，费用。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A5F3706-C842-9C12-C7E7-3D14F9EF63A1}"/>
              </a:ext>
            </a:extLst>
          </p:cNvPr>
          <p:cNvSpPr txBox="1"/>
          <p:nvPr/>
        </p:nvSpPr>
        <p:spPr>
          <a:xfrm>
            <a:off x="1669762" y="2649345"/>
            <a:ext cx="102790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/>
              <a:t>图纸审查：初步设计（上传），图纸审核单（上传），施工图设计（上传），图纸审核单（上传），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F0B2903-9038-E2EF-5880-5F9A5FC6D431}"/>
              </a:ext>
            </a:extLst>
          </p:cNvPr>
          <p:cNvSpPr txBox="1"/>
          <p:nvPr/>
        </p:nvSpPr>
        <p:spPr>
          <a:xfrm>
            <a:off x="459174" y="3685436"/>
            <a:ext cx="91614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目的：透视项目流程，监控项目成本，监督项目管理过程，收集项目存档资料。</a:t>
            </a:r>
          </a:p>
        </p:txBody>
      </p:sp>
    </p:spTree>
    <p:extLst>
      <p:ext uri="{BB962C8B-B14F-4D97-AF65-F5344CB8AC3E}">
        <p14:creationId xmlns:p14="http://schemas.microsoft.com/office/powerpoint/2010/main" val="40544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457</Words>
  <Application>Microsoft Office PowerPoint</Application>
  <PresentationFormat>宽屏</PresentationFormat>
  <Paragraphs>37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黑体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xinxing wang</dc:creator>
  <cp:lastModifiedBy>xinxing wang</cp:lastModifiedBy>
  <cp:revision>4</cp:revision>
  <dcterms:created xsi:type="dcterms:W3CDTF">2025-09-10T08:56:16Z</dcterms:created>
  <dcterms:modified xsi:type="dcterms:W3CDTF">2025-09-11T02:33:38Z</dcterms:modified>
</cp:coreProperties>
</file>